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5DF3"/>
    <a:srgbClr val="4C2B9D"/>
    <a:srgbClr val="6F5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C2BFB6-0D2C-4E2C-B5F7-DD9B5C1D051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5FE6034-3525-4CC9-944E-957F17E3028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Transform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1. Removed missing values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2. Standardized formats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3. Calculated financial metrics</a:t>
          </a:r>
        </a:p>
      </dgm:t>
    </dgm:pt>
    <dgm:pt modelId="{26801152-5443-4EE8-A1EF-4D23880AF137}" type="parTrans" cxnId="{9786268C-7AC9-44CE-B8FA-73F66DFA142E}">
      <dgm:prSet/>
      <dgm:spPr/>
      <dgm:t>
        <a:bodyPr/>
        <a:lstStyle/>
        <a:p>
          <a:endParaRPr lang="en-IN"/>
        </a:p>
      </dgm:t>
    </dgm:pt>
    <dgm:pt modelId="{7253A195-0F8B-49C9-BC36-DC0AC3985F96}" type="sibTrans" cxnId="{9786268C-7AC9-44CE-B8FA-73F66DFA142E}">
      <dgm:prSet/>
      <dgm:spPr/>
      <dgm:t>
        <a:bodyPr/>
        <a:lstStyle/>
        <a:p>
          <a:endParaRPr lang="en-IN"/>
        </a:p>
      </dgm:t>
    </dgm:pt>
    <dgm:pt modelId="{652A40D2-2618-43AF-8220-73C65948C96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Load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1. Stored processed data in SQLite </a:t>
          </a:r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2. Prepared datasets for analysis and dashboard</a:t>
          </a:r>
          <a:endParaRPr lang="en-IN" dirty="0"/>
        </a:p>
      </dgm:t>
    </dgm:pt>
    <dgm:pt modelId="{98F83180-86A6-4C1F-8CD2-4C90C20101F3}" type="parTrans" cxnId="{CC791CEB-7FF0-4A0C-8F5B-48D630539BD8}">
      <dgm:prSet/>
      <dgm:spPr/>
      <dgm:t>
        <a:bodyPr/>
        <a:lstStyle/>
        <a:p>
          <a:endParaRPr lang="en-IN"/>
        </a:p>
      </dgm:t>
    </dgm:pt>
    <dgm:pt modelId="{9332F9C2-BD33-4E6C-92F8-77E5072E36D8}" type="sibTrans" cxnId="{CC791CEB-7FF0-4A0C-8F5B-48D630539BD8}">
      <dgm:prSet/>
      <dgm:spPr/>
      <dgm:t>
        <a:bodyPr/>
        <a:lstStyle/>
        <a:p>
          <a:endParaRPr lang="en-IN"/>
        </a:p>
      </dgm:t>
    </dgm:pt>
    <dgm:pt modelId="{6870A82E-5F0B-4F57-A4F1-2D82500420B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Extract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1. Imported raw CSV datasets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2. Validated source files</a:t>
          </a:r>
        </a:p>
      </dgm:t>
    </dgm:pt>
    <dgm:pt modelId="{095ACD03-1201-4F4F-BB12-A5FEA3D23F0C}" type="sibTrans" cxnId="{7974AE2A-3791-46A3-B0F2-30504BB251DA}">
      <dgm:prSet/>
      <dgm:spPr/>
      <dgm:t>
        <a:bodyPr/>
        <a:lstStyle/>
        <a:p>
          <a:endParaRPr lang="en-IN"/>
        </a:p>
      </dgm:t>
    </dgm:pt>
    <dgm:pt modelId="{4EFF737F-5BEF-4C15-93F0-C4A8B23BA5AD}" type="parTrans" cxnId="{7974AE2A-3791-46A3-B0F2-30504BB251DA}">
      <dgm:prSet/>
      <dgm:spPr/>
      <dgm:t>
        <a:bodyPr/>
        <a:lstStyle/>
        <a:p>
          <a:endParaRPr lang="en-IN"/>
        </a:p>
      </dgm:t>
    </dgm:pt>
    <dgm:pt modelId="{C3E8D9E4-DBAE-4713-9F8D-20364A6832DA}" type="pres">
      <dgm:prSet presAssocID="{5BC2BFB6-0D2C-4E2C-B5F7-DD9B5C1D0514}" presName="Name0" presStyleCnt="0">
        <dgm:presLayoutVars>
          <dgm:dir/>
          <dgm:resizeHandles val="exact"/>
        </dgm:presLayoutVars>
      </dgm:prSet>
      <dgm:spPr/>
    </dgm:pt>
    <dgm:pt modelId="{8370B599-D73A-4FFF-AF96-2EE883DC440B}" type="pres">
      <dgm:prSet presAssocID="{6870A82E-5F0B-4F57-A4F1-2D82500420B5}" presName="node" presStyleLbl="node1" presStyleIdx="0" presStyleCnt="3">
        <dgm:presLayoutVars>
          <dgm:bulletEnabled val="1"/>
        </dgm:presLayoutVars>
      </dgm:prSet>
      <dgm:spPr/>
    </dgm:pt>
    <dgm:pt modelId="{049DC570-3600-4EC7-A5BA-450207F37ED2}" type="pres">
      <dgm:prSet presAssocID="{095ACD03-1201-4F4F-BB12-A5FEA3D23F0C}" presName="sibTrans" presStyleLbl="sibTrans2D1" presStyleIdx="0" presStyleCnt="2"/>
      <dgm:spPr/>
    </dgm:pt>
    <dgm:pt modelId="{8DE0EA0E-108A-460F-B846-F1929E53C397}" type="pres">
      <dgm:prSet presAssocID="{095ACD03-1201-4F4F-BB12-A5FEA3D23F0C}" presName="connectorText" presStyleLbl="sibTrans2D1" presStyleIdx="0" presStyleCnt="2"/>
      <dgm:spPr/>
    </dgm:pt>
    <dgm:pt modelId="{4593FB8F-6CCB-4516-83BE-05DD9DF9D0C9}" type="pres">
      <dgm:prSet presAssocID="{F5FE6034-3525-4CC9-944E-957F17E3028F}" presName="node" presStyleLbl="node1" presStyleIdx="1" presStyleCnt="3">
        <dgm:presLayoutVars>
          <dgm:bulletEnabled val="1"/>
        </dgm:presLayoutVars>
      </dgm:prSet>
      <dgm:spPr/>
    </dgm:pt>
    <dgm:pt modelId="{660E4199-748F-4261-B2E4-CAC57806BB8F}" type="pres">
      <dgm:prSet presAssocID="{7253A195-0F8B-49C9-BC36-DC0AC3985F96}" presName="sibTrans" presStyleLbl="sibTrans2D1" presStyleIdx="1" presStyleCnt="2"/>
      <dgm:spPr/>
    </dgm:pt>
    <dgm:pt modelId="{0EDBE2F5-A2DA-45E1-8432-BA4140753615}" type="pres">
      <dgm:prSet presAssocID="{7253A195-0F8B-49C9-BC36-DC0AC3985F96}" presName="connectorText" presStyleLbl="sibTrans2D1" presStyleIdx="1" presStyleCnt="2"/>
      <dgm:spPr/>
    </dgm:pt>
    <dgm:pt modelId="{C0779786-C9FF-4CD2-835E-CEFA155632A9}" type="pres">
      <dgm:prSet presAssocID="{652A40D2-2618-43AF-8220-73C65948C96D}" presName="node" presStyleLbl="node1" presStyleIdx="2" presStyleCnt="3">
        <dgm:presLayoutVars>
          <dgm:bulletEnabled val="1"/>
        </dgm:presLayoutVars>
      </dgm:prSet>
      <dgm:spPr/>
    </dgm:pt>
  </dgm:ptLst>
  <dgm:cxnLst>
    <dgm:cxn modelId="{E4BFA505-17AE-4678-8A24-A94C72C1A9E9}" type="presOf" srcId="{095ACD03-1201-4F4F-BB12-A5FEA3D23F0C}" destId="{049DC570-3600-4EC7-A5BA-450207F37ED2}" srcOrd="0" destOrd="0" presId="urn:microsoft.com/office/officeart/2005/8/layout/process1"/>
    <dgm:cxn modelId="{7974AE2A-3791-46A3-B0F2-30504BB251DA}" srcId="{5BC2BFB6-0D2C-4E2C-B5F7-DD9B5C1D0514}" destId="{6870A82E-5F0B-4F57-A4F1-2D82500420B5}" srcOrd="0" destOrd="0" parTransId="{4EFF737F-5BEF-4C15-93F0-C4A8B23BA5AD}" sibTransId="{095ACD03-1201-4F4F-BB12-A5FEA3D23F0C}"/>
    <dgm:cxn modelId="{F5F06236-CFE6-4637-A1F3-7F1667B51712}" type="presOf" srcId="{F5FE6034-3525-4CC9-944E-957F17E3028F}" destId="{4593FB8F-6CCB-4516-83BE-05DD9DF9D0C9}" srcOrd="0" destOrd="0" presId="urn:microsoft.com/office/officeart/2005/8/layout/process1"/>
    <dgm:cxn modelId="{44753355-BB7F-4DA4-AA60-2F04864E5E4B}" type="presOf" srcId="{652A40D2-2618-43AF-8220-73C65948C96D}" destId="{C0779786-C9FF-4CD2-835E-CEFA155632A9}" srcOrd="0" destOrd="0" presId="urn:microsoft.com/office/officeart/2005/8/layout/process1"/>
    <dgm:cxn modelId="{38732B7B-65FD-44FF-B15E-B5404B9EFF04}" type="presOf" srcId="{095ACD03-1201-4F4F-BB12-A5FEA3D23F0C}" destId="{8DE0EA0E-108A-460F-B846-F1929E53C397}" srcOrd="1" destOrd="0" presId="urn:microsoft.com/office/officeart/2005/8/layout/process1"/>
    <dgm:cxn modelId="{029DCC8B-1645-48ED-B5FA-9D914A9C34AA}" type="presOf" srcId="{7253A195-0F8B-49C9-BC36-DC0AC3985F96}" destId="{660E4199-748F-4261-B2E4-CAC57806BB8F}" srcOrd="0" destOrd="0" presId="urn:microsoft.com/office/officeart/2005/8/layout/process1"/>
    <dgm:cxn modelId="{9786268C-7AC9-44CE-B8FA-73F66DFA142E}" srcId="{5BC2BFB6-0D2C-4E2C-B5F7-DD9B5C1D0514}" destId="{F5FE6034-3525-4CC9-944E-957F17E3028F}" srcOrd="1" destOrd="0" parTransId="{26801152-5443-4EE8-A1EF-4D23880AF137}" sibTransId="{7253A195-0F8B-49C9-BC36-DC0AC3985F96}"/>
    <dgm:cxn modelId="{5EE34C90-2953-46D9-9F04-5BA121EF2D06}" type="presOf" srcId="{7253A195-0F8B-49C9-BC36-DC0AC3985F96}" destId="{0EDBE2F5-A2DA-45E1-8432-BA4140753615}" srcOrd="1" destOrd="0" presId="urn:microsoft.com/office/officeart/2005/8/layout/process1"/>
    <dgm:cxn modelId="{2450E0A4-7585-4D8C-BBD0-B6C521417192}" type="presOf" srcId="{5BC2BFB6-0D2C-4E2C-B5F7-DD9B5C1D0514}" destId="{C3E8D9E4-DBAE-4713-9F8D-20364A6832DA}" srcOrd="0" destOrd="0" presId="urn:microsoft.com/office/officeart/2005/8/layout/process1"/>
    <dgm:cxn modelId="{655654B4-C372-4AEE-9C60-83A6559FA460}" type="presOf" srcId="{6870A82E-5F0B-4F57-A4F1-2D82500420B5}" destId="{8370B599-D73A-4FFF-AF96-2EE883DC440B}" srcOrd="0" destOrd="0" presId="urn:microsoft.com/office/officeart/2005/8/layout/process1"/>
    <dgm:cxn modelId="{CC791CEB-7FF0-4A0C-8F5B-48D630539BD8}" srcId="{5BC2BFB6-0D2C-4E2C-B5F7-DD9B5C1D0514}" destId="{652A40D2-2618-43AF-8220-73C65948C96D}" srcOrd="2" destOrd="0" parTransId="{98F83180-86A6-4C1F-8CD2-4C90C20101F3}" sibTransId="{9332F9C2-BD33-4E6C-92F8-77E5072E36D8}"/>
    <dgm:cxn modelId="{3C932443-2C00-4269-A1EC-097A14CD9B4B}" type="presParOf" srcId="{C3E8D9E4-DBAE-4713-9F8D-20364A6832DA}" destId="{8370B599-D73A-4FFF-AF96-2EE883DC440B}" srcOrd="0" destOrd="0" presId="urn:microsoft.com/office/officeart/2005/8/layout/process1"/>
    <dgm:cxn modelId="{E869DAE3-FFD4-4850-B326-91859437036C}" type="presParOf" srcId="{C3E8D9E4-DBAE-4713-9F8D-20364A6832DA}" destId="{049DC570-3600-4EC7-A5BA-450207F37ED2}" srcOrd="1" destOrd="0" presId="urn:microsoft.com/office/officeart/2005/8/layout/process1"/>
    <dgm:cxn modelId="{77A46806-5B6B-4916-87D8-3046CFCE5E7C}" type="presParOf" srcId="{049DC570-3600-4EC7-A5BA-450207F37ED2}" destId="{8DE0EA0E-108A-460F-B846-F1929E53C397}" srcOrd="0" destOrd="0" presId="urn:microsoft.com/office/officeart/2005/8/layout/process1"/>
    <dgm:cxn modelId="{7E263180-DBEB-4608-B4C5-6D20500115C8}" type="presParOf" srcId="{C3E8D9E4-DBAE-4713-9F8D-20364A6832DA}" destId="{4593FB8F-6CCB-4516-83BE-05DD9DF9D0C9}" srcOrd="2" destOrd="0" presId="urn:microsoft.com/office/officeart/2005/8/layout/process1"/>
    <dgm:cxn modelId="{0C1B30D0-2BED-4568-B6F3-7776DA2DF9D0}" type="presParOf" srcId="{C3E8D9E4-DBAE-4713-9F8D-20364A6832DA}" destId="{660E4199-748F-4261-B2E4-CAC57806BB8F}" srcOrd="3" destOrd="0" presId="urn:microsoft.com/office/officeart/2005/8/layout/process1"/>
    <dgm:cxn modelId="{4E9C12AC-F39C-47D6-96ED-BA516BEC8F29}" type="presParOf" srcId="{660E4199-748F-4261-B2E4-CAC57806BB8F}" destId="{0EDBE2F5-A2DA-45E1-8432-BA4140753615}" srcOrd="0" destOrd="0" presId="urn:microsoft.com/office/officeart/2005/8/layout/process1"/>
    <dgm:cxn modelId="{4238A6A9-9912-431C-9E51-9EEBD758A18F}" type="presParOf" srcId="{C3E8D9E4-DBAE-4713-9F8D-20364A6832DA}" destId="{C0779786-C9FF-4CD2-835E-CEFA155632A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0B599-D73A-4FFF-AF96-2EE883DC440B}">
      <dsp:nvSpPr>
        <dsp:cNvPr id="0" name=""/>
        <dsp:cNvSpPr/>
      </dsp:nvSpPr>
      <dsp:spPr>
        <a:xfrm>
          <a:off x="10168" y="1689619"/>
          <a:ext cx="3039109" cy="18234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b="1" kern="1200" dirty="0"/>
            <a:t>Extract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1. Imported raw CSV datasets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2. Validated source files</a:t>
          </a:r>
        </a:p>
      </dsp:txBody>
      <dsp:txXfrm>
        <a:off x="63575" y="1743026"/>
        <a:ext cx="2932295" cy="1716651"/>
      </dsp:txXfrm>
    </dsp:sp>
    <dsp:sp modelId="{049DC570-3600-4EC7-A5BA-450207F37ED2}">
      <dsp:nvSpPr>
        <dsp:cNvPr id="0" name=""/>
        <dsp:cNvSpPr/>
      </dsp:nvSpPr>
      <dsp:spPr>
        <a:xfrm>
          <a:off x="3353188" y="2224502"/>
          <a:ext cx="644291" cy="753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353188" y="2375242"/>
        <a:ext cx="451004" cy="452219"/>
      </dsp:txXfrm>
    </dsp:sp>
    <dsp:sp modelId="{4593FB8F-6CCB-4516-83BE-05DD9DF9D0C9}">
      <dsp:nvSpPr>
        <dsp:cNvPr id="0" name=""/>
        <dsp:cNvSpPr/>
      </dsp:nvSpPr>
      <dsp:spPr>
        <a:xfrm>
          <a:off x="4264921" y="1689619"/>
          <a:ext cx="3039109" cy="18234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b="1" kern="1200" dirty="0"/>
            <a:t>Transform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1. Removed missing values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2. Standardized formats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3. Calculated financial metrics</a:t>
          </a:r>
        </a:p>
      </dsp:txBody>
      <dsp:txXfrm>
        <a:off x="4318328" y="1743026"/>
        <a:ext cx="2932295" cy="1716651"/>
      </dsp:txXfrm>
    </dsp:sp>
    <dsp:sp modelId="{660E4199-748F-4261-B2E4-CAC57806BB8F}">
      <dsp:nvSpPr>
        <dsp:cNvPr id="0" name=""/>
        <dsp:cNvSpPr/>
      </dsp:nvSpPr>
      <dsp:spPr>
        <a:xfrm>
          <a:off x="7607942" y="2224502"/>
          <a:ext cx="644291" cy="7536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607942" y="2375242"/>
        <a:ext cx="451004" cy="452219"/>
      </dsp:txXfrm>
    </dsp:sp>
    <dsp:sp modelId="{C0779786-C9FF-4CD2-835E-CEFA155632A9}">
      <dsp:nvSpPr>
        <dsp:cNvPr id="0" name=""/>
        <dsp:cNvSpPr/>
      </dsp:nvSpPr>
      <dsp:spPr>
        <a:xfrm>
          <a:off x="8519675" y="1689619"/>
          <a:ext cx="3039109" cy="18234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b="1" kern="1200" dirty="0"/>
            <a:t>Load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1. Stored processed data in SQLite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2. Prepared datasets for analysis and dashboard</a:t>
          </a:r>
          <a:endParaRPr lang="en-IN" sz="1800" kern="1200" dirty="0"/>
        </a:p>
      </dsp:txBody>
      <dsp:txXfrm>
        <a:off x="8573082" y="1743026"/>
        <a:ext cx="2932295" cy="1716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06687-53CF-4168-A57E-E37573D2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74002-2BDC-42D7-9BF6-148DC1E21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59BB5-591C-4BEE-A07B-6639672A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00453-FD26-46B3-9F33-76C98827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41B62-A482-45D9-848A-346D8B47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5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487D-1AF6-4D11-B3F5-877E31B2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C833-F7E1-4E5A-9D55-A4A9DC89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6E93E-FAA7-4D25-9F5E-4403FC7C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C4D5-482D-40E0-B14F-9ADEB28B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1F2-AEF9-43AE-B9AF-947B806A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7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484A-01CB-46F3-B59D-C3F986CA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DCC93-A230-4D51-839C-FE8247D8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DFE35-A641-4E9C-86B5-E61391DA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B25A6-EBCF-4E4A-A2A9-E897B734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AFCF5-47AA-4AF9-93DD-901692ED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8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DC62-1E2B-43AF-A733-C06C9604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0AF5-0EF6-4ACC-AF33-09F9BE0A4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B00A2-7582-4C7C-B25F-A7362E0F7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30285-BA72-4492-902F-E2BAC3D5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CDD7B-6E2A-4437-8BAC-9DAB3F29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331B0-928D-427B-9756-46A0F470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18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A48C-49F8-443F-B9C3-B3210FD1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223A4-0D09-4DD4-B1AA-5D2D0AAE4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FEBED-2114-4B64-927B-CF9CD2E6D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03721-FEE3-4C38-AFE9-BA98C30D5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E768B-A4C9-4E3B-BB0D-948014EB5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EAD75-B1D1-459F-8149-5DAA805B8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A1C8F-2C04-408C-9882-468A78B2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28E08-58A9-4F86-AB7B-D83778B5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1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1D22-B0AC-4263-9F14-418E117D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FCEB7A-ACBF-497C-BAFD-99A9282C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E745C-952A-4FD4-96C8-3B43CB0E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7F647-9833-43DF-8C40-10B2A8CC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21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7AB74-9E2D-491C-A17E-EA1E30E5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CA48B-D9C9-412F-90FF-7B454211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08C32-18FA-41C7-A15C-AAE5E982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0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4768-9BEE-4EE2-9268-A20E28E2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DB2F0-CA32-4496-9D70-60492DAF2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60A65-13E0-41C2-B122-5793F695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66F68-4968-4E56-BD93-86605CC3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B7896-4D06-443E-8C3D-34041956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09A89-4D21-4F9E-8471-E8E4F948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8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1835-49C8-4E35-9998-FC4FBA3E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EB25C-C24D-4FED-9633-1B11B7537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57F97-6DD5-4D9C-96C9-4FEA43789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F0524-AB1D-4694-9967-00B3A24E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33907-BE7D-469F-A6C3-C03844F8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AA376-2551-4F5E-BB82-8EF9748F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0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652A-3B63-4F96-9563-9832D4D3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D27AE-EB67-41A6-A62F-6794AC7FC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2470F-D6AE-4BA2-8046-62BAE413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8F9C4-ADDC-47C1-AD70-B5C87A07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2F4D8-91D9-4F5C-B450-6C74D83D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54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D473C-7542-4BB8-9FF5-FB68BBC8B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43EA7-A304-4DC4-A054-DD5EDF70E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E9E9-BC1C-4493-BEC5-4666670D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E363-5DF9-4919-9688-BAB66A91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19BB0-7BA7-42F5-B6B8-B99F1727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28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E2596-137D-4774-8396-88334BA6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07A2C-232C-451A-B1FC-C24A5232B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4C8F-A912-45E6-B431-3D1E4BC84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1A634-E4DA-45D8-BFF3-458B63077AD9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FFA14-48A2-45AE-A707-289AC2C6D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F1A1-3068-43E2-A4B6-0763618C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C52A9-D2EF-422A-810F-5E4FFACA4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17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9F5E-5A31-4CE4-86E7-9C13F81D5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Capstone</a:t>
            </a:r>
            <a:endParaRPr lang="en-IN" b="1" dirty="0">
              <a:solidFill>
                <a:srgbClr val="4C2B9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50F343-B720-421B-A9A5-68114B3EC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34453" y="3617108"/>
            <a:ext cx="3845925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35DF3"/>
                </a:solidFill>
                <a:effectLst/>
                <a:latin typeface="Arial" panose="020B0604020202020204" pitchFamily="34" charset="0"/>
              </a:rPr>
              <a:t>Final Project Presentation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35DF3"/>
                </a:solidFill>
                <a:effectLst/>
                <a:latin typeface="Arial" panose="020B0604020202020204" pitchFamily="34" charset="0"/>
              </a:rPr>
              <a:t>Prepared By: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C2B9D"/>
                </a:solidFill>
                <a:effectLst/>
                <a:latin typeface="Arial" panose="020B0604020202020204" pitchFamily="34" charset="0"/>
              </a:rPr>
              <a:t>Prashant Nikhare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C2B9D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35DF3"/>
                </a:solidFill>
                <a:effectLst/>
                <a:latin typeface="Arial" panose="020B0604020202020204" pitchFamily="34" charset="0"/>
              </a:rPr>
              <a:t>Data Analytics Internship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35DF3"/>
                </a:solidFill>
                <a:effectLst/>
                <a:latin typeface="Arial" panose="020B0604020202020204" pitchFamily="34" charset="0"/>
              </a:rPr>
              <a:t>August 2026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943C9-9E55-437A-8D31-F176BC6B6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47" y="1835056"/>
            <a:ext cx="1420906" cy="142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9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21F7-DAFA-4C0B-B7E4-EEB2B9B8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A84A4C-F4A8-40E8-904B-97B026568A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4365"/>
            <a:ext cx="7056996" cy="2736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Mutual fund data is spread across multiple datasets.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data is difficult to analyze directly.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Investors need meaningful insights for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complete analytics solution with dashboard was required. </a:t>
            </a:r>
          </a:p>
        </p:txBody>
      </p:sp>
    </p:spTree>
    <p:extLst>
      <p:ext uri="{BB962C8B-B14F-4D97-AF65-F5344CB8AC3E}">
        <p14:creationId xmlns:p14="http://schemas.microsoft.com/office/powerpoint/2010/main" val="281189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7F5A-AD51-4783-898E-E4C14395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BA3E98-84EC-4735-83B0-F497BD83B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37635"/>
            <a:ext cx="4976042" cy="4582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ETL Pipeline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Validate Data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Data in SQLite Database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Exploratory 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Financial Performance Metrics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Interactive Power BI Dashboard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Recommendation System </a:t>
            </a:r>
          </a:p>
        </p:txBody>
      </p:sp>
    </p:spTree>
    <p:extLst>
      <p:ext uri="{BB962C8B-B14F-4D97-AF65-F5344CB8AC3E}">
        <p14:creationId xmlns:p14="http://schemas.microsoft.com/office/powerpoint/2010/main" val="161026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C791-66D4-4617-BBDA-6D482F0C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020291A2-5872-4CE3-B7A3-D53AC9899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38783"/>
              </p:ext>
            </p:extLst>
          </p:nvPr>
        </p:nvGraphicFramePr>
        <p:xfrm>
          <a:off x="838200" y="1619436"/>
          <a:ext cx="8337177" cy="4279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3855">
                  <a:extLst>
                    <a:ext uri="{9D8B030D-6E8A-4147-A177-3AD203B41FA5}">
                      <a16:colId xmlns:a16="http://schemas.microsoft.com/office/drawing/2014/main" val="1884427074"/>
                    </a:ext>
                  </a:extLst>
                </a:gridCol>
                <a:gridCol w="4983322">
                  <a:extLst>
                    <a:ext uri="{9D8B030D-6E8A-4147-A177-3AD203B41FA5}">
                      <a16:colId xmlns:a16="http://schemas.microsoft.com/office/drawing/2014/main" val="3327369952"/>
                    </a:ext>
                  </a:extLst>
                </a:gridCol>
              </a:tblGrid>
              <a:tr h="505206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solidFill>
                            <a:srgbClr val="735DF3"/>
                          </a:solidFill>
                        </a:rPr>
                        <a:t>Dataset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sz="2000" b="1" dirty="0">
                          <a:solidFill>
                            <a:srgbClr val="735DF3"/>
                          </a:solidFill>
                        </a:rPr>
                        <a:t>Description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29086"/>
                  </a:ext>
                </a:extLst>
              </a:tr>
              <a:tr h="48820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dirty="0"/>
                        <a:t>Fund Master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dirty="0"/>
                        <a:t>Mutual fund scheme details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140190"/>
                  </a:ext>
                </a:extLst>
              </a:tr>
              <a:tr h="45532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NAV History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Daily Net Asset Value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658589"/>
                  </a:ext>
                </a:extLst>
              </a:tr>
              <a:tr h="48820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AUM Data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dirty="0"/>
                        <a:t>Assets Under Management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0165"/>
                  </a:ext>
                </a:extLst>
              </a:tr>
              <a:tr h="48820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SIP Inflows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Monthly SIP investment data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47102"/>
                  </a:ext>
                </a:extLst>
              </a:tr>
              <a:tr h="45532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Category Inflows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Category-wise fund inflows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84962"/>
                  </a:ext>
                </a:extLst>
              </a:tr>
              <a:tr h="45532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Investor Transactions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dirty="0"/>
                        <a:t>Investor purchase and redemption details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58460"/>
                  </a:ext>
                </a:extLst>
              </a:tr>
              <a:tr h="45532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Portfolio Holdings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/>
                        <a:t>Fund holdings and sector allocation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828266"/>
                  </a:ext>
                </a:extLst>
              </a:tr>
              <a:tr h="488207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/>
                        <a:t>Benchmark Indices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IN" dirty="0"/>
                        <a:t>Benchmark index performance</a:t>
                      </a:r>
                    </a:p>
                  </a:txBody>
                  <a:tcPr marL="5880" marR="5880" marT="58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527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B80B-0A68-4329-A5BA-7706DA8F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DEB6B-D11F-47E3-A7AB-3B67EEA55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80682"/>
            <a:ext cx="10515600" cy="669663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Raw CSV Files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Data Cleaning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SQLite Database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EDA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Performance Analytics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Power BI Dashboard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│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      ▼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735DF3"/>
                </a:solidFill>
              </a:rPr>
              <a:t>Recommendation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C48B5-3BB5-4553-9122-F2542F28DDD3}"/>
              </a:ext>
            </a:extLst>
          </p:cNvPr>
          <p:cNvSpPr txBox="1"/>
          <p:nvPr/>
        </p:nvSpPr>
        <p:spPr>
          <a:xfrm>
            <a:off x="564776" y="2353469"/>
            <a:ext cx="5650008" cy="2438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The project follows a complete end-to-end</a:t>
            </a:r>
          </a:p>
          <a:p>
            <a:pPr>
              <a:lnSpc>
                <a:spcPct val="300000"/>
              </a:lnSpc>
            </a:pPr>
            <a:r>
              <a:rPr lang="en-US" dirty="0"/>
              <a:t>data analytics pipeline from raw data ingestion to</a:t>
            </a:r>
          </a:p>
          <a:p>
            <a:pPr>
              <a:lnSpc>
                <a:spcPct val="300000"/>
              </a:lnSpc>
            </a:pPr>
            <a:r>
              <a:rPr lang="en-US" dirty="0"/>
              <a:t>dashboard visualization and recommendation generation.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50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EC7C8-C6FE-44CF-9294-13FC0232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37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A513F2-BA7D-49DA-B532-5DF689637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439172"/>
              </p:ext>
            </p:extLst>
          </p:nvPr>
        </p:nvGraphicFramePr>
        <p:xfrm>
          <a:off x="389965" y="902261"/>
          <a:ext cx="11568953" cy="5202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868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5D55-3C7D-4E11-8618-7646BD8D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5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A390-D286-4179-939E-6D5ED11D7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518" y="1233834"/>
            <a:ext cx="4657165" cy="3275293"/>
          </a:xfrm>
        </p:spPr>
        <p:txBody>
          <a:bodyPr/>
          <a:lstStyle/>
          <a:p>
            <a:r>
              <a:rPr lang="en-US" b="1" dirty="0">
                <a:solidFill>
                  <a:srgbClr val="735DF3"/>
                </a:solidFill>
              </a:rPr>
              <a:t>Key Analysis Performed</a:t>
            </a:r>
            <a:endParaRPr lang="en-US" dirty="0">
              <a:solidFill>
                <a:srgbClr val="735DF3"/>
              </a:solidFill>
            </a:endParaRPr>
          </a:p>
          <a:p>
            <a:r>
              <a:rPr lang="en-US" dirty="0"/>
              <a:t>Fund Category Distribution </a:t>
            </a:r>
          </a:p>
          <a:p>
            <a:r>
              <a:rPr lang="en-US" dirty="0"/>
              <a:t>Risk Category Distribution </a:t>
            </a:r>
          </a:p>
          <a:p>
            <a:r>
              <a:rPr lang="en-US" dirty="0"/>
              <a:t>NAV Trend Analysis </a:t>
            </a:r>
          </a:p>
          <a:p>
            <a:r>
              <a:rPr lang="en-US" dirty="0"/>
              <a:t>Investor Transaction Analysis </a:t>
            </a:r>
          </a:p>
          <a:p>
            <a:r>
              <a:rPr lang="en-US" dirty="0"/>
              <a:t>SIP Flow Analysis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3FDBE-0940-4792-8151-7FC47855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465" y="3429000"/>
            <a:ext cx="3880144" cy="2425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5F09F-F852-4BDB-9FD1-7B215DA78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674" y="1015995"/>
            <a:ext cx="3860808" cy="2413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4F7C67-9349-49BF-8F29-8C6F3F69BF2D}"/>
              </a:ext>
            </a:extLst>
          </p:cNvPr>
          <p:cNvSpPr txBox="1"/>
          <p:nvPr/>
        </p:nvSpPr>
        <p:spPr>
          <a:xfrm>
            <a:off x="227778" y="4376761"/>
            <a:ext cx="654954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35DF3"/>
                </a:solidFill>
              </a:rPr>
              <a:t>Key Insights</a:t>
            </a:r>
            <a:endParaRPr lang="en-US" sz="2400" dirty="0">
              <a:solidFill>
                <a:srgbClr val="735DF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Equity funds have the highest number of schemes.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schemes fall under the High and Very High risk categories.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Investor activity is concentrated in equity-oriented funds.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55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E01-9C81-4F1A-840D-16F34B00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C970B-A19A-418C-B0BF-9690A20C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8976" cy="44855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735DF3"/>
                </a:solidFill>
              </a:rPr>
              <a:t>Metrics Calculated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Annualized Return </a:t>
            </a:r>
          </a:p>
          <a:p>
            <a:r>
              <a:rPr lang="en-IN" dirty="0"/>
              <a:t>Annualized Volatility </a:t>
            </a:r>
          </a:p>
          <a:p>
            <a:r>
              <a:rPr lang="en-IN" dirty="0"/>
              <a:t>Sharpe Ratio </a:t>
            </a:r>
          </a:p>
          <a:p>
            <a:r>
              <a:rPr lang="en-IN" dirty="0" err="1"/>
              <a:t>Sortino</a:t>
            </a:r>
            <a:r>
              <a:rPr lang="en-IN" dirty="0"/>
              <a:t> Ratio </a:t>
            </a:r>
          </a:p>
          <a:p>
            <a:r>
              <a:rPr lang="en-IN" dirty="0"/>
              <a:t>Maximum Drawdown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Tracking Error </a:t>
            </a:r>
          </a:p>
          <a:p>
            <a:r>
              <a:rPr lang="en-IN" dirty="0" err="1"/>
              <a:t>VaR</a:t>
            </a:r>
            <a:r>
              <a:rPr lang="en-IN" dirty="0"/>
              <a:t> &amp; </a:t>
            </a:r>
            <a:r>
              <a:rPr lang="en-IN" dirty="0" err="1"/>
              <a:t>CVaR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F254A-B9B3-4072-BC63-C23CA8E24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7811" y="1488982"/>
            <a:ext cx="5710764" cy="2840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7E50D4-55BA-4E79-A3BB-2861AA9496B9}"/>
              </a:ext>
            </a:extLst>
          </p:cNvPr>
          <p:cNvSpPr txBox="1"/>
          <p:nvPr/>
        </p:nvSpPr>
        <p:spPr>
          <a:xfrm>
            <a:off x="4527176" y="4782118"/>
            <a:ext cx="7162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35DF3"/>
                </a:solidFill>
              </a:rPr>
              <a:t>Key Findings</a:t>
            </a:r>
            <a:endParaRPr lang="en-US" sz="2400" dirty="0">
              <a:solidFill>
                <a:srgbClr val="735DF3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Large-cap funds showed stable performance.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Some funds generated higher risk-adjusted returns.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Performance varied significantly across categories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16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5349-D6D7-4CE6-AE71-D48A0C64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57114-49BA-4FAF-A9BA-92E07C229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4" y="1467037"/>
            <a:ext cx="6370660" cy="35800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A201C0-BFD8-4ECD-930B-55DB1232637D}"/>
              </a:ext>
            </a:extLst>
          </p:cNvPr>
          <p:cNvSpPr txBox="1"/>
          <p:nvPr/>
        </p:nvSpPr>
        <p:spPr>
          <a:xfrm>
            <a:off x="7808258" y="1669723"/>
            <a:ext cx="297628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35DF3"/>
                </a:solidFill>
              </a:rPr>
              <a:t>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KPI Cards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Interactive Charts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Fund Comparison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Category Analysis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7DE59-1CF1-4C53-98AD-E78B21D199E1}"/>
              </a:ext>
            </a:extLst>
          </p:cNvPr>
          <p:cNvSpPr txBox="1"/>
          <p:nvPr/>
        </p:nvSpPr>
        <p:spPr>
          <a:xfrm>
            <a:off x="1515214" y="5687377"/>
            <a:ext cx="89104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35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endParaRPr lang="en-US" sz="2400" dirty="0">
              <a:solidFill>
                <a:srgbClr val="735DF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The dashboard provides an interactive view of mutual fund performance and investor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72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C001-3D45-4CE6-9C1B-282226A7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71E9-F2B0-4859-B281-39E7B600F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3863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735DF3"/>
                </a:solidFill>
              </a:rPr>
              <a:t>Key Insights</a:t>
            </a:r>
          </a:p>
          <a:p>
            <a:r>
              <a:rPr lang="en-US" dirty="0"/>
              <a:t>Equity funds dominated investments. </a:t>
            </a:r>
          </a:p>
          <a:p>
            <a:r>
              <a:rPr lang="en-US" dirty="0"/>
              <a:t>SIP inflows showed consistent growth. </a:t>
            </a:r>
          </a:p>
          <a:p>
            <a:r>
              <a:rPr lang="en-US" dirty="0"/>
              <a:t>Risk categories influenced fund selection. </a:t>
            </a:r>
          </a:p>
          <a:p>
            <a:r>
              <a:rPr lang="en-US" dirty="0"/>
              <a:t>Large-cap funds attracted more investors. </a:t>
            </a:r>
          </a:p>
          <a:p>
            <a:r>
              <a:rPr lang="en-US" dirty="0"/>
              <a:t>Portfolio allocation varied across schemes.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0A026-8865-4AFF-86B2-92490916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914" y="509752"/>
            <a:ext cx="6314502" cy="349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9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F24A-B6BE-43A0-AD68-76745D2A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DC2C-C021-4E3F-A57E-0B7E6192F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365" cy="4667250"/>
          </a:xfrm>
        </p:spPr>
        <p:txBody>
          <a:bodyPr>
            <a:normAutofit fontScale="92500"/>
          </a:bodyPr>
          <a:lstStyle/>
          <a:p>
            <a:r>
              <a:rPr lang="en-IN" b="1" dirty="0">
                <a:solidFill>
                  <a:srgbClr val="735DF3"/>
                </a:solidFill>
              </a:rPr>
              <a:t>Techniques Implemented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Historical Value at Risk (</a:t>
            </a:r>
            <a:r>
              <a:rPr lang="en-IN" sz="2400" dirty="0" err="1"/>
              <a:t>VaR</a:t>
            </a:r>
            <a:r>
              <a:rPr lang="en-IN" sz="2400" dirty="0"/>
              <a:t>)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Conditional Value at Risk (</a:t>
            </a:r>
            <a:r>
              <a:rPr lang="en-IN" sz="2400" dirty="0" err="1"/>
              <a:t>CVaR</a:t>
            </a:r>
            <a:r>
              <a:rPr lang="en-IN" sz="2400" dirty="0"/>
              <a:t>)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Rolling Sharpe Ratio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Cohort Analysis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Portfolio Concentration (HHI)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Mutual Fund Recommendation System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C12A1-694D-44C2-88B4-072BC137293F}"/>
              </a:ext>
            </a:extLst>
          </p:cNvPr>
          <p:cNvSpPr txBox="1"/>
          <p:nvPr/>
        </p:nvSpPr>
        <p:spPr>
          <a:xfrm>
            <a:off x="5952565" y="1690688"/>
            <a:ext cx="578223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35DF3"/>
                </a:solidFill>
              </a:rPr>
              <a:t>Key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Historical </a:t>
            </a:r>
            <a:r>
              <a:rPr lang="en-US" sz="2400" dirty="0" err="1"/>
              <a:t>VaR</a:t>
            </a:r>
            <a:r>
              <a:rPr lang="en-US" sz="2400" dirty="0"/>
              <a:t> and </a:t>
            </a:r>
            <a:r>
              <a:rPr lang="en-US" sz="2400" dirty="0" err="1"/>
              <a:t>CVaR</a:t>
            </a:r>
            <a:r>
              <a:rPr lang="en-US" sz="2400" dirty="0"/>
              <a:t> were used to estimate downside risk.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Rolling Sharpe Ratio tracked risk-adjusted performance over time.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HHI measured portfolio diversification across schemes.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Recommendation system suggested funds based on investor risk preference.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257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FDFC-E5CC-4CE4-A373-5D6ACC3A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2690-35DA-4AFE-A7ED-608151275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05" y="1341531"/>
            <a:ext cx="10708341" cy="418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735DF3"/>
                </a:solidFill>
              </a:rPr>
              <a:t>Project Outcomes</a:t>
            </a:r>
          </a:p>
          <a:p>
            <a:r>
              <a:rPr lang="en-IN" sz="1800" dirty="0"/>
              <a:t>Successfully developed an end-to-end Mutual Fund Analytics solution. </a:t>
            </a:r>
          </a:p>
          <a:p>
            <a:r>
              <a:rPr lang="en-IN" sz="1800" dirty="0"/>
              <a:t>Built an automated ETL pipeline using Python. </a:t>
            </a:r>
          </a:p>
          <a:p>
            <a:r>
              <a:rPr lang="en-IN" sz="1800" dirty="0"/>
              <a:t>Stored processed data in SQLite database. </a:t>
            </a:r>
          </a:p>
          <a:p>
            <a:r>
              <a:rPr lang="en-IN" sz="1800" dirty="0"/>
              <a:t>Performed EDA and financial performance analysis. </a:t>
            </a:r>
          </a:p>
          <a:p>
            <a:r>
              <a:rPr lang="en-IN" sz="1800" dirty="0"/>
              <a:t>Developed an interactive Power BI dashboard. </a:t>
            </a:r>
          </a:p>
          <a:p>
            <a:r>
              <a:rPr lang="en-IN" sz="1800" dirty="0"/>
              <a:t>Implemented advanced analytics including </a:t>
            </a:r>
            <a:r>
              <a:rPr lang="en-IN" sz="1800" dirty="0" err="1"/>
              <a:t>VaR</a:t>
            </a:r>
            <a:r>
              <a:rPr lang="en-IN" sz="1800" dirty="0"/>
              <a:t>, </a:t>
            </a:r>
            <a:r>
              <a:rPr lang="en-IN" sz="1800" dirty="0" err="1"/>
              <a:t>CVaR</a:t>
            </a:r>
            <a:r>
              <a:rPr lang="en-IN" sz="1800" dirty="0"/>
              <a:t>, Rolling Sharpe Ratio, HHI, and Cohort Analysis. </a:t>
            </a:r>
          </a:p>
          <a:p>
            <a:r>
              <a:rPr lang="en-IN" sz="1800" dirty="0"/>
              <a:t>Created a mutual fund recommendation system based on risk category.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E2134-991B-4D7D-B85A-CF29786FB59C}"/>
              </a:ext>
            </a:extLst>
          </p:cNvPr>
          <p:cNvSpPr txBox="1"/>
          <p:nvPr/>
        </p:nvSpPr>
        <p:spPr>
          <a:xfrm>
            <a:off x="5809129" y="4671298"/>
            <a:ext cx="759310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35DF3"/>
                </a:solidFill>
              </a:rPr>
              <a:t>Business Value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fund performance analysis.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Simplified investor decision-making.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Automated data processing workflow.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Delivered interactive business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88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F381-8A66-4FD8-AA9D-3A891821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894" y="1331002"/>
            <a:ext cx="10515600" cy="1325563"/>
          </a:xfrm>
        </p:spPr>
        <p:txBody>
          <a:bodyPr>
            <a:noAutofit/>
          </a:bodyPr>
          <a:lstStyle/>
          <a:p>
            <a:r>
              <a:rPr lang="en-IN" sz="9600" b="1" dirty="0">
                <a:solidFill>
                  <a:srgbClr val="4C2B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5482-2A0F-4251-A21E-97ACDAAC5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36544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IN" sz="4000" dirty="0">
                <a:solidFill>
                  <a:srgbClr val="735DF3"/>
                </a:solidFill>
              </a:rPr>
              <a:t>Prepared by:</a:t>
            </a:r>
          </a:p>
          <a:p>
            <a:pPr marL="0" indent="0" algn="ctr">
              <a:buNone/>
            </a:pPr>
            <a:r>
              <a:rPr lang="en-IN" sz="4000" b="1" dirty="0">
                <a:solidFill>
                  <a:srgbClr val="4C2B9D"/>
                </a:solidFill>
              </a:rPr>
              <a:t>Prashant Nikhare</a:t>
            </a:r>
            <a:endParaRPr lang="en-IN" sz="4000" dirty="0">
              <a:solidFill>
                <a:srgbClr val="4C2B9D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51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571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Bluestock Mutual Fund Analytics Capstone</vt:lpstr>
      <vt:lpstr>Problem Statement</vt:lpstr>
      <vt:lpstr>Project Objectives</vt:lpstr>
      <vt:lpstr>Data Sources</vt:lpstr>
      <vt:lpstr>Project Architecture</vt:lpstr>
      <vt:lpstr>ETL Process</vt:lpstr>
      <vt:lpstr>Exploratory Data Analysis (EDA)</vt:lpstr>
      <vt:lpstr>Financial Performance Analytics</vt:lpstr>
      <vt:lpstr>Interactive Dashboard</vt:lpstr>
      <vt:lpstr>Dashboard Insights</vt:lpstr>
      <vt:lpstr>Advanced Analytics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creator>Anjali Dongre</dc:creator>
  <cp:lastModifiedBy>Anjali Dongre</cp:lastModifiedBy>
  <cp:revision>6</cp:revision>
  <dcterms:created xsi:type="dcterms:W3CDTF">2026-08-14T19:08:29Z</dcterms:created>
  <dcterms:modified xsi:type="dcterms:W3CDTF">2026-08-14T19:55:50Z</dcterms:modified>
</cp:coreProperties>
</file>